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80220"/>
            <a:ext cx="48006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925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Ali Wholesale SaaS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2254579"/>
            <a:ext cx="480060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4D7C0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AI-Powered Sales and Delivery Platform for Wholesale Food Distribution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3191805"/>
            <a:ext cx="4286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a manual wholesale operation into an automated lead-to-delivery pipeline using AI voice agents, real-time credit checking, and territory-based logistics.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6591002" y="1143000"/>
            <a:ext cx="1905595" cy="2857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0727" b="1" dirty="0">
                <a:solidFill>
                  <a:srgbClr val="FAFAF9">
                    <a:alpha val="15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</a:t>
            </a:r>
            <a:endParaRPr lang="en-US" sz="20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4D7C0F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428625"/>
            <a:ext cx="138945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FAFAF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CONTEXT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3171825" y="571500"/>
            <a:ext cx="554355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2925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Ali's Business Problem Demands Automation, Not More Headcount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3171825" y="1337277"/>
            <a:ext cx="5543550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 is a wholesale food distributor selling bulk ingredients to bakeries in Western Long Island. His current operation is constrained by manual cold-calling (10-15 calls/day), no systematic follow-up on leads who say "not now," and disconnected sales-to-delivery handoffs. The solution is not hiring more salespeople — it is building an AI-assisted platform that handles the routine 80% of calls while keeping Ali in control of the strategic 20%.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3171825" y="2423043"/>
            <a:ext cx="2700338" cy="781515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8" name="Shape 5"/>
          <p:cNvSpPr/>
          <p:nvPr/>
        </p:nvSpPr>
        <p:spPr>
          <a:xfrm>
            <a:off x="3171825" y="2423043"/>
            <a:ext cx="28575" cy="78151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6"/>
          <p:cNvSpPr/>
          <p:nvPr/>
        </p:nvSpPr>
        <p:spPr>
          <a:xfrm>
            <a:off x="3300413" y="2551630"/>
            <a:ext cx="24431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REGION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3300413" y="2715937"/>
            <a:ext cx="244316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15-mile geofence around Mineola, Long Island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6015038" y="2423043"/>
            <a:ext cx="2700338" cy="781515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12" name="Shape 9"/>
          <p:cNvSpPr/>
          <p:nvPr/>
        </p:nvSpPr>
        <p:spPr>
          <a:xfrm>
            <a:off x="6015038" y="2423043"/>
            <a:ext cx="28575" cy="78151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6143625" y="2551630"/>
            <a:ext cx="24431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CUSTOMERS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6143625" y="2715937"/>
            <a:ext cx="244316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Bakeries, bagel chains, industrial bakeries</a:t>
            </a:r>
            <a:endParaRPr lang="en-US" sz="885" dirty="0"/>
          </a:p>
        </p:txBody>
      </p:sp>
      <p:sp>
        <p:nvSpPr>
          <p:cNvPr id="15" name="Shape 12"/>
          <p:cNvSpPr/>
          <p:nvPr/>
        </p:nvSpPr>
        <p:spPr>
          <a:xfrm>
            <a:off x="3171825" y="3347433"/>
            <a:ext cx="2700338" cy="781515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171825" y="3347433"/>
            <a:ext cx="28575" cy="78151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3300413" y="3476020"/>
            <a:ext cx="24431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3300413" y="3640327"/>
            <a:ext cx="244316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 seeds, nuts, spices, dried fruits, chilies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6015038" y="3347433"/>
            <a:ext cx="2700338" cy="781515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6015038" y="3347433"/>
            <a:ext cx="28575" cy="78151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8"/>
          <p:cNvSpPr/>
          <p:nvPr/>
        </p:nvSpPr>
        <p:spPr>
          <a:xfrm>
            <a:off x="6143625" y="3476020"/>
            <a:ext cx="24431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GOAL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6143625" y="3640327"/>
            <a:ext cx="244316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from 10-15 manual calls/day to 50-100 AI-assisted calls/day</a:t>
            </a:r>
            <a:endParaRPr lang="en-US" sz="8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55435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2925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MVP Focuses on Three Core Capabilities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40113"/>
            <a:ext cx="55435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combines AI sales automation, CRM pipeline management, and logistics orchestration into a single dashboard. This is not a full platform build — it is a focused MVP that addresses Ali's three biggest bottlenecks.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428625" y="1817303"/>
            <a:ext cx="5543550" cy="8197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817303"/>
            <a:ext cx="5543550" cy="7144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" name="Shape 4"/>
          <p:cNvSpPr/>
          <p:nvPr/>
        </p:nvSpPr>
        <p:spPr>
          <a:xfrm>
            <a:off x="5965031" y="1817303"/>
            <a:ext cx="7144" cy="81974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2629905"/>
            <a:ext cx="5543550" cy="7144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1817303"/>
            <a:ext cx="42863" cy="819745"/>
          </a:xfrm>
          <a:prstGeom prst="rect">
            <a:avLst/>
          </a:prstGeom>
          <a:solidFill>
            <a:srgbClr val="4D7C0F"/>
          </a:solidFill>
          <a:ln/>
        </p:spPr>
      </p:sp>
      <p:sp>
        <p:nvSpPr>
          <p:cNvPr id="10" name="Text 7"/>
          <p:cNvSpPr/>
          <p:nvPr/>
        </p:nvSpPr>
        <p:spPr>
          <a:xfrm>
            <a:off x="600075" y="2004826"/>
            <a:ext cx="107692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Sales Engine</a:t>
            </a:r>
            <a:endParaRPr lang="en-US" sz="987" dirty="0"/>
          </a:p>
        </p:txBody>
      </p:sp>
      <p:sp>
        <p:nvSpPr>
          <p:cNvPr id="11" name="Shape 8"/>
          <p:cNvSpPr/>
          <p:nvPr/>
        </p:nvSpPr>
        <p:spPr>
          <a:xfrm>
            <a:off x="4509492" y="1988753"/>
            <a:ext cx="1291233" cy="205383"/>
          </a:xfrm>
          <a:prstGeom prst="round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9492" y="1988753"/>
            <a:ext cx="1291233" cy="205383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VAPI AI VOICE AGENT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600075" y="2265573"/>
            <a:ext cx="52006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outbound calling with real-time transcript streaming and keyword extraction.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428625" y="2751348"/>
            <a:ext cx="5543550" cy="8197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2751348"/>
            <a:ext cx="5543550" cy="7144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6" name="Shape 13"/>
          <p:cNvSpPr/>
          <p:nvPr/>
        </p:nvSpPr>
        <p:spPr>
          <a:xfrm>
            <a:off x="5965031" y="2751348"/>
            <a:ext cx="7144" cy="81974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3563950"/>
            <a:ext cx="5543550" cy="7144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" y="2751348"/>
            <a:ext cx="42863" cy="819745"/>
          </a:xfrm>
          <a:prstGeom prst="rect">
            <a:avLst/>
          </a:prstGeom>
          <a:solidFill>
            <a:srgbClr val="4D7C0F"/>
          </a:solidFill>
          <a:ln/>
        </p:spPr>
      </p:sp>
      <p:sp>
        <p:nvSpPr>
          <p:cNvPr id="19" name="Text 16"/>
          <p:cNvSpPr/>
          <p:nvPr/>
        </p:nvSpPr>
        <p:spPr>
          <a:xfrm>
            <a:off x="600075" y="2938872"/>
            <a:ext cx="105906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+ Pipeline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3748683" y="2922798"/>
            <a:ext cx="2052042" cy="205383"/>
          </a:xfrm>
          <a:prstGeom prst="round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48683" y="2922798"/>
            <a:ext cx="2052042" cy="205383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(POSTGRESQL + POSTGIS)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600075" y="3199619"/>
            <a:ext cx="52006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tracking, drip campaigns, credit checking, and human escalation workflows.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428625" y="3685394"/>
            <a:ext cx="5543550" cy="8197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428625" y="3685394"/>
            <a:ext cx="5543550" cy="7144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5" name="Shape 22"/>
          <p:cNvSpPr/>
          <p:nvPr/>
        </p:nvSpPr>
        <p:spPr>
          <a:xfrm>
            <a:off x="5965031" y="3685394"/>
            <a:ext cx="7144" cy="81974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6" name="Shape 23"/>
          <p:cNvSpPr/>
          <p:nvPr/>
        </p:nvSpPr>
        <p:spPr>
          <a:xfrm>
            <a:off x="428625" y="4497995"/>
            <a:ext cx="5543550" cy="7144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7" name="Shape 24"/>
          <p:cNvSpPr/>
          <p:nvPr/>
        </p:nvSpPr>
        <p:spPr>
          <a:xfrm>
            <a:off x="428625" y="3685394"/>
            <a:ext cx="42863" cy="819745"/>
          </a:xfrm>
          <a:prstGeom prst="rect">
            <a:avLst/>
          </a:prstGeom>
          <a:solidFill>
            <a:srgbClr val="4D7C0F"/>
          </a:solidFill>
          <a:ln/>
        </p:spPr>
      </p:sp>
      <p:sp>
        <p:nvSpPr>
          <p:cNvPr id="28" name="Text 25"/>
          <p:cNvSpPr/>
          <p:nvPr/>
        </p:nvSpPr>
        <p:spPr>
          <a:xfrm>
            <a:off x="600075" y="3872917"/>
            <a:ext cx="63400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</a:t>
            </a:r>
            <a:endParaRPr lang="en-US" sz="987" dirty="0"/>
          </a:p>
        </p:txBody>
      </p:sp>
      <p:sp>
        <p:nvSpPr>
          <p:cNvPr id="29" name="Shape 26"/>
          <p:cNvSpPr/>
          <p:nvPr/>
        </p:nvSpPr>
        <p:spPr>
          <a:xfrm>
            <a:off x="4179094" y="3856844"/>
            <a:ext cx="1621631" cy="205383"/>
          </a:xfrm>
          <a:prstGeom prst="round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79094" y="3856844"/>
            <a:ext cx="1621631" cy="205383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MAPS ROUTING API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600075" y="4133664"/>
            <a:ext cx="52006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Territory-based route grouping with truck capacity management and stop optimization.</a:t>
            </a:r>
            <a:endParaRPr lang="en-US" sz="834" dirty="0"/>
          </a:p>
        </p:txBody>
      </p:sp>
      <p:sp>
        <p:nvSpPr>
          <p:cNvPr id="32" name="Shape 29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7377708" y="428625"/>
            <a:ext cx="148054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FAFAF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OVERVIEW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650456" y="0"/>
            <a:ext cx="7144" cy="514350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2943225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2925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System Architecture Connects Five Subsystems Through Supabase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491565"/>
            <a:ext cx="2943225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architecture flows from lead sourcing through AI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to either fulfillment or follow-up, with human-in-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the-loop escalation at every critical decision point.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serves as the central data layer, providing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with PostGIS for geofencing, real-time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subscriptions, and edge functions.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428625" y="2717332"/>
            <a:ext cx="171450" cy="17145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271733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85800" y="2703044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Sourcing: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Google Maps scraper with 15-mile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geofence.</a:t>
            </a:r>
            <a:endParaRPr lang="en-US" sz="734" dirty="0"/>
          </a:p>
        </p:txBody>
      </p:sp>
      <p:sp>
        <p:nvSpPr>
          <p:cNvPr id="10" name="Shape 7"/>
          <p:cNvSpPr/>
          <p:nvPr/>
        </p:nvSpPr>
        <p:spPr>
          <a:xfrm>
            <a:off x="428625" y="3124526"/>
            <a:ext cx="171450" cy="17145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312452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85800" y="3110238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Sales Engine: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Vapi with real-time inventory and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checks.</a:t>
            </a:r>
            <a:endParaRPr lang="en-US" sz="734" dirty="0"/>
          </a:p>
        </p:txBody>
      </p:sp>
      <p:sp>
        <p:nvSpPr>
          <p:cNvPr id="13" name="Shape 10"/>
          <p:cNvSpPr/>
          <p:nvPr/>
        </p:nvSpPr>
        <p:spPr>
          <a:xfrm>
            <a:off x="428625" y="3531719"/>
            <a:ext cx="171450" cy="17145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353171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685800" y="3517432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Escalation for sentiment,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credit, and volume triggers.</a:t>
            </a:r>
            <a:endParaRPr lang="en-US" sz="734" dirty="0"/>
          </a:p>
        </p:txBody>
      </p:sp>
      <p:sp>
        <p:nvSpPr>
          <p:cNvPr id="16" name="Shape 13"/>
          <p:cNvSpPr/>
          <p:nvPr/>
        </p:nvSpPr>
        <p:spPr>
          <a:xfrm>
            <a:off x="428625" y="3938913"/>
            <a:ext cx="171450" cy="17145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428625" y="393891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685800" y="3924626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&amp; Routing: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Google Maps API with zip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optimization.</a:t>
            </a:r>
            <a:endParaRPr lang="en-US" sz="734" dirty="0"/>
          </a:p>
        </p:txBody>
      </p:sp>
      <p:sp>
        <p:nvSpPr>
          <p:cNvPr id="19" name="Shape 16"/>
          <p:cNvSpPr/>
          <p:nvPr/>
        </p:nvSpPr>
        <p:spPr>
          <a:xfrm>
            <a:off x="428625" y="4346107"/>
            <a:ext cx="171450" cy="17145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434610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685800" y="4331819"/>
            <a:ext cx="26860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Drip &amp; Follow-Up: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Zapier for 30-day re-engagement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cycles.</a:t>
            </a:r>
            <a:endParaRPr lang="en-US" sz="734" dirty="0"/>
          </a:p>
        </p:txBody>
      </p:sp>
      <p:sp>
        <p:nvSpPr>
          <p:cNvPr id="22" name="Shape 19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180" y="285750"/>
            <a:ext cx="4053241" cy="45719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4004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ARCHITECTURE</a:t>
            </a:r>
            <a:endParaRPr lang="en-US" sz="683" dirty="0"/>
          </a:p>
        </p:txBody>
      </p:sp>
      <p:sp>
        <p:nvSpPr>
          <p:cNvPr id="4" name="Text 1"/>
          <p:cNvSpPr/>
          <p:nvPr/>
        </p:nvSpPr>
        <p:spPr>
          <a:xfrm>
            <a:off x="428625" y="692944"/>
            <a:ext cx="3400425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2925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Nine Database Entities Model the Complete Lead-to-Delivery Lifecycle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755884"/>
            <a:ext cx="3400425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 model uses PostgreSQL with PostGIS and covers all eight required entities plus a bonus Downstream Customers table. Key design decisions include PostGIS GEOGRAPHY columns for O(log N) geofence queries, PostgreSQL arrays for products_of_interest, and separate Leads vs Customers tables to track the full conversion funnel.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28625" y="3067376"/>
            <a:ext cx="1600200" cy="171450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&amp; CRM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28625" y="3295976"/>
            <a:ext cx="428625" cy="198239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8625" y="3295976"/>
            <a:ext cx="428625" cy="198239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</a:t>
            </a:r>
            <a:endParaRPr lang="en-US" sz="634" dirty="0"/>
          </a:p>
        </p:txBody>
      </p:sp>
      <p:sp>
        <p:nvSpPr>
          <p:cNvPr id="9" name="Shape 6"/>
          <p:cNvSpPr/>
          <p:nvPr/>
        </p:nvSpPr>
        <p:spPr>
          <a:xfrm>
            <a:off x="900113" y="3295976"/>
            <a:ext cx="650081" cy="198239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0113" y="3295976"/>
            <a:ext cx="650081" cy="198239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</a:t>
            </a:r>
            <a:endParaRPr lang="en-US" sz="634" dirty="0"/>
          </a:p>
        </p:txBody>
      </p:sp>
      <p:sp>
        <p:nvSpPr>
          <p:cNvPr id="11" name="Shape 8"/>
          <p:cNvSpPr/>
          <p:nvPr/>
        </p:nvSpPr>
        <p:spPr>
          <a:xfrm>
            <a:off x="428625" y="3537077"/>
            <a:ext cx="859036" cy="198239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8625" y="3537077"/>
            <a:ext cx="859036" cy="198239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CreditAccounts</a:t>
            </a:r>
            <a:endParaRPr lang="en-US" sz="634" dirty="0"/>
          </a:p>
        </p:txBody>
      </p:sp>
      <p:sp>
        <p:nvSpPr>
          <p:cNvPr id="13" name="Shape 10"/>
          <p:cNvSpPr/>
          <p:nvPr/>
        </p:nvSpPr>
        <p:spPr>
          <a:xfrm>
            <a:off x="428625" y="3778179"/>
            <a:ext cx="1223367" cy="198239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625" y="3778179"/>
            <a:ext cx="1223367" cy="198239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DownstreamCustomers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2228850" y="3067376"/>
            <a:ext cx="1600200" cy="171450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AUTOMATION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2228850" y="3295976"/>
            <a:ext cx="864394" cy="198239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28850" y="3295976"/>
            <a:ext cx="864394" cy="198239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CallInteractions</a:t>
            </a:r>
            <a:endParaRPr lang="en-US" sz="634" dirty="0"/>
          </a:p>
        </p:txBody>
      </p:sp>
      <p:sp>
        <p:nvSpPr>
          <p:cNvPr id="18" name="Shape 15"/>
          <p:cNvSpPr/>
          <p:nvPr/>
        </p:nvSpPr>
        <p:spPr>
          <a:xfrm>
            <a:off x="3136106" y="3295976"/>
            <a:ext cx="667941" cy="198239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136106" y="3295976"/>
            <a:ext cx="667941" cy="198239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428625" y="4090718"/>
            <a:ext cx="1600200" cy="171450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428625" y="4319318"/>
            <a:ext cx="466130" cy="198239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8625" y="4319318"/>
            <a:ext cx="466130" cy="198239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634" dirty="0"/>
          </a:p>
        </p:txBody>
      </p:sp>
      <p:sp>
        <p:nvSpPr>
          <p:cNvPr id="23" name="Shape 20"/>
          <p:cNvSpPr/>
          <p:nvPr/>
        </p:nvSpPr>
        <p:spPr>
          <a:xfrm>
            <a:off x="937617" y="4319318"/>
            <a:ext cx="725091" cy="198239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7617" y="4319318"/>
            <a:ext cx="725091" cy="198239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TruckRoutes</a:t>
            </a:r>
            <a:endParaRPr lang="en-US" sz="634" dirty="0"/>
          </a:p>
        </p:txBody>
      </p:sp>
      <p:sp>
        <p:nvSpPr>
          <p:cNvPr id="25" name="Shape 22"/>
          <p:cNvSpPr/>
          <p:nvPr/>
        </p:nvSpPr>
        <p:spPr>
          <a:xfrm>
            <a:off x="428625" y="4560419"/>
            <a:ext cx="485775" cy="198239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8625" y="4560419"/>
            <a:ext cx="485775" cy="198239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</a:t>
            </a:r>
            <a:endParaRPr lang="en-US" sz="634" dirty="0"/>
          </a:p>
        </p:txBody>
      </p:sp>
      <p:sp>
        <p:nvSpPr>
          <p:cNvPr id="27" name="Shape 24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4114800" y="0"/>
            <a:ext cx="14288" cy="5143500"/>
          </a:xfrm>
          <a:prstGeom prst="rect">
            <a:avLst/>
          </a:prstGeom>
          <a:solidFill>
            <a:srgbClr val="D6D3D1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85750"/>
            <a:ext cx="44577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406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0" cy="55406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571500"/>
            <a:ext cx="11858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SALES ENGINE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285750" y="2934742"/>
            <a:ext cx="2628900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AFA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Calls Follow a Four-Phase Workflow with Real-Time Validation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285750" y="4054832"/>
            <a:ext cx="2628900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AFAF9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outbound call progresses through four visible phases in the dashboard. The AI agent performs real-time validation against Supabase during the call — checking inventory availability and credit limits before confirming any order.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3629025" y="571500"/>
            <a:ext cx="5086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925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Call Progression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3629025" y="1231571"/>
            <a:ext cx="1135577" cy="414338"/>
          </a:xfrm>
          <a:prstGeom prst="roundRect">
            <a:avLst/>
          </a:prstGeom>
          <a:solidFill>
            <a:srgbClr val="292524"/>
          </a:solidFill>
          <a:ln w="18288">
            <a:solidFill>
              <a:srgbClr val="2925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29025" y="1231571"/>
            <a:ext cx="1135577" cy="414338"/>
          </a:xfrm>
          <a:prstGeom prst="rect">
            <a:avLst/>
          </a:prstGeom>
          <a:noFill/>
          <a:ln/>
        </p:spPr>
        <p:txBody>
          <a:bodyPr wrap="square" lIns="204089" tIns="85090" rIns="204089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CONNECTING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3804884" y="1717346"/>
            <a:ext cx="76438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2s telephony delay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4973752" y="1171575"/>
            <a:ext cx="1083339" cy="414338"/>
          </a:xfrm>
          <a:prstGeom prst="roundRect">
            <a:avLst/>
          </a:prstGeom>
          <a:solidFill>
            <a:srgbClr val="FAFAF9"/>
          </a:solidFill>
          <a:ln w="18288">
            <a:solidFill>
              <a:srgbClr val="2925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73752" y="1171575"/>
            <a:ext cx="1083339" cy="414338"/>
          </a:xfrm>
          <a:prstGeom prst="rect">
            <a:avLst/>
          </a:prstGeom>
          <a:noFill/>
          <a:ln/>
        </p:spPr>
        <p:txBody>
          <a:bodyPr wrap="square" lIns="204089" tIns="85090" rIns="204089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STREAMING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5083504" y="1657350"/>
            <a:ext cx="8572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transcript &amp; keywords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6272464" y="1171575"/>
            <a:ext cx="1201936" cy="414338"/>
          </a:xfrm>
          <a:prstGeom prst="roundRect">
            <a:avLst/>
          </a:prstGeom>
          <a:solidFill>
            <a:srgbClr val="FAFAF9"/>
          </a:solidFill>
          <a:ln w="18288">
            <a:solidFill>
              <a:srgbClr val="2925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2464" y="1171575"/>
            <a:ext cx="1201936" cy="414338"/>
          </a:xfrm>
          <a:prstGeom prst="rect">
            <a:avLst/>
          </a:prstGeom>
          <a:noFill/>
          <a:ln/>
        </p:spPr>
        <p:txBody>
          <a:bodyPr wrap="square" lIns="204089" tIns="85090" rIns="204089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CALCULATING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6448351" y="1657350"/>
            <a:ext cx="8572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check &amp; order estimation</a:t>
            </a:r>
            <a:endParaRPr lang="en-US" sz="621" dirty="0"/>
          </a:p>
        </p:txBody>
      </p:sp>
      <p:sp>
        <p:nvSpPr>
          <p:cNvPr id="17" name="Shape 14"/>
          <p:cNvSpPr/>
          <p:nvPr/>
        </p:nvSpPr>
        <p:spPr>
          <a:xfrm>
            <a:off x="7696916" y="1171575"/>
            <a:ext cx="1018459" cy="414338"/>
          </a:xfrm>
          <a:prstGeom prst="roundRect">
            <a:avLst/>
          </a:prstGeom>
          <a:solidFill>
            <a:srgbClr val="292524"/>
          </a:solidFill>
          <a:ln w="18288">
            <a:solidFill>
              <a:srgbClr val="29252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96916" y="1171575"/>
            <a:ext cx="1018459" cy="414338"/>
          </a:xfrm>
          <a:prstGeom prst="rect">
            <a:avLst/>
          </a:prstGeom>
          <a:noFill/>
          <a:ln/>
        </p:spPr>
        <p:txBody>
          <a:bodyPr wrap="square" lIns="204089" tIns="85090" rIns="204089" bIns="8509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SUMMARY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7787776" y="1643063"/>
            <a:ext cx="8572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 card &amp; action buttons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3629025" y="2454548"/>
            <a:ext cx="5086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925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Branching Outcomes</a:t>
            </a:r>
            <a:endParaRPr lang="en-US" sz="1193" dirty="0"/>
          </a:p>
        </p:txBody>
      </p:sp>
      <p:sp>
        <p:nvSpPr>
          <p:cNvPr id="21" name="Shape 18"/>
          <p:cNvSpPr/>
          <p:nvPr/>
        </p:nvSpPr>
        <p:spPr>
          <a:xfrm>
            <a:off x="3629025" y="2911748"/>
            <a:ext cx="2457450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29025" y="2911748"/>
            <a:ext cx="2457450" cy="28575"/>
          </a:xfrm>
          <a:prstGeom prst="rect">
            <a:avLst/>
          </a:prstGeom>
          <a:solidFill>
            <a:srgbClr val="4D7C0F"/>
          </a:solidFill>
          <a:ln/>
        </p:spPr>
      </p:sp>
      <p:sp>
        <p:nvSpPr>
          <p:cNvPr id="23" name="Shape 20"/>
          <p:cNvSpPr/>
          <p:nvPr/>
        </p:nvSpPr>
        <p:spPr>
          <a:xfrm>
            <a:off x="6079331" y="2911748"/>
            <a:ext cx="7144" cy="9286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4" name="Shape 21"/>
          <p:cNvSpPr/>
          <p:nvPr/>
        </p:nvSpPr>
        <p:spPr>
          <a:xfrm>
            <a:off x="3629025" y="3833292"/>
            <a:ext cx="2457450" cy="7144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5" name="Shape 22"/>
          <p:cNvSpPr/>
          <p:nvPr/>
        </p:nvSpPr>
        <p:spPr>
          <a:xfrm>
            <a:off x="3629025" y="2911748"/>
            <a:ext cx="7144" cy="9286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6" name="Text 23"/>
          <p:cNvSpPr/>
          <p:nvPr/>
        </p:nvSpPr>
        <p:spPr>
          <a:xfrm>
            <a:off x="3800475" y="3083198"/>
            <a:ext cx="21145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PLACED + CREDIT OK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3800475" y="3290367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8A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3971925" y="3290367"/>
            <a:ext cx="1943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 Order → Stage in Fulfillment → Generate Routes</a:t>
            </a:r>
            <a:endParaRPr lang="en-US" sz="834" dirty="0"/>
          </a:p>
        </p:txBody>
      </p:sp>
      <p:sp>
        <p:nvSpPr>
          <p:cNvPr id="29" name="Shape 26"/>
          <p:cNvSpPr/>
          <p:nvPr/>
        </p:nvSpPr>
        <p:spPr>
          <a:xfrm>
            <a:off x="6257925" y="2911748"/>
            <a:ext cx="2457450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6257925" y="2911748"/>
            <a:ext cx="2457450" cy="28575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Shape 28"/>
          <p:cNvSpPr/>
          <p:nvPr/>
        </p:nvSpPr>
        <p:spPr>
          <a:xfrm>
            <a:off x="8708231" y="2911748"/>
            <a:ext cx="7144" cy="9286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2" name="Shape 29"/>
          <p:cNvSpPr/>
          <p:nvPr/>
        </p:nvSpPr>
        <p:spPr>
          <a:xfrm>
            <a:off x="6257925" y="3833292"/>
            <a:ext cx="2457450" cy="7144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3" name="Shape 30"/>
          <p:cNvSpPr/>
          <p:nvPr/>
        </p:nvSpPr>
        <p:spPr>
          <a:xfrm>
            <a:off x="6257925" y="2911748"/>
            <a:ext cx="7144" cy="9286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4" name="Text 31"/>
          <p:cNvSpPr/>
          <p:nvPr/>
        </p:nvSpPr>
        <p:spPr>
          <a:xfrm>
            <a:off x="6429375" y="3083198"/>
            <a:ext cx="21145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PLACED + CREDIT EXCEEDED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6429375" y="3290367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8A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6600825" y="3290367"/>
            <a:ext cx="1943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Credit Blocked card with Override / Decline buttons</a:t>
            </a:r>
            <a:endParaRPr lang="en-US" sz="834" dirty="0"/>
          </a:p>
        </p:txBody>
      </p:sp>
      <p:sp>
        <p:nvSpPr>
          <p:cNvPr id="37" name="Shape 34"/>
          <p:cNvSpPr/>
          <p:nvPr/>
        </p:nvSpPr>
        <p:spPr>
          <a:xfrm>
            <a:off x="3629025" y="3976167"/>
            <a:ext cx="2457450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5"/>
          <p:cNvSpPr/>
          <p:nvPr/>
        </p:nvSpPr>
        <p:spPr>
          <a:xfrm>
            <a:off x="3629025" y="3976167"/>
            <a:ext cx="2457450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9" name="Shape 36"/>
          <p:cNvSpPr/>
          <p:nvPr/>
        </p:nvSpPr>
        <p:spPr>
          <a:xfrm>
            <a:off x="6079331" y="3976167"/>
            <a:ext cx="7144" cy="9286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0" name="Shape 37"/>
          <p:cNvSpPr/>
          <p:nvPr/>
        </p:nvSpPr>
        <p:spPr>
          <a:xfrm>
            <a:off x="3629025" y="4897710"/>
            <a:ext cx="2457450" cy="7144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1" name="Shape 38"/>
          <p:cNvSpPr/>
          <p:nvPr/>
        </p:nvSpPr>
        <p:spPr>
          <a:xfrm>
            <a:off x="3629025" y="3976167"/>
            <a:ext cx="7144" cy="9286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2" name="Text 39"/>
          <p:cNvSpPr/>
          <p:nvPr/>
        </p:nvSpPr>
        <p:spPr>
          <a:xfrm>
            <a:off x="3800475" y="4147617"/>
            <a:ext cx="21145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INTERESTED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3800475" y="4354785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8A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84" dirty="0"/>
          </a:p>
        </p:txBody>
      </p:sp>
      <p:sp>
        <p:nvSpPr>
          <p:cNvPr id="44" name="Text 41"/>
          <p:cNvSpPr/>
          <p:nvPr/>
        </p:nvSpPr>
        <p:spPr>
          <a:xfrm>
            <a:off x="3971925" y="4354785"/>
            <a:ext cx="16644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Enroll in 30-day drip campaign</a:t>
            </a:r>
            <a:endParaRPr lang="en-US" sz="834" dirty="0"/>
          </a:p>
        </p:txBody>
      </p:sp>
      <p:sp>
        <p:nvSpPr>
          <p:cNvPr id="45" name="Shape 42"/>
          <p:cNvSpPr/>
          <p:nvPr/>
        </p:nvSpPr>
        <p:spPr>
          <a:xfrm>
            <a:off x="6257925" y="3976167"/>
            <a:ext cx="2457450" cy="928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3"/>
          <p:cNvSpPr/>
          <p:nvPr/>
        </p:nvSpPr>
        <p:spPr>
          <a:xfrm>
            <a:off x="6257925" y="3976167"/>
            <a:ext cx="2457450" cy="285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7" name="Shape 44"/>
          <p:cNvSpPr/>
          <p:nvPr/>
        </p:nvSpPr>
        <p:spPr>
          <a:xfrm>
            <a:off x="8708231" y="3976167"/>
            <a:ext cx="7144" cy="9286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8" name="Shape 45"/>
          <p:cNvSpPr/>
          <p:nvPr/>
        </p:nvSpPr>
        <p:spPr>
          <a:xfrm>
            <a:off x="6257925" y="4897710"/>
            <a:ext cx="2457450" cy="7144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9" name="Shape 46"/>
          <p:cNvSpPr/>
          <p:nvPr/>
        </p:nvSpPr>
        <p:spPr>
          <a:xfrm>
            <a:off x="6257925" y="3976167"/>
            <a:ext cx="7144" cy="928688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0" name="Text 47"/>
          <p:cNvSpPr/>
          <p:nvPr/>
        </p:nvSpPr>
        <p:spPr>
          <a:xfrm>
            <a:off x="6429375" y="4147617"/>
            <a:ext cx="21145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SENTIMENT DETECTED</a:t>
            </a:r>
            <a:endParaRPr lang="en-US" sz="683" dirty="0"/>
          </a:p>
        </p:txBody>
      </p:sp>
      <p:sp>
        <p:nvSpPr>
          <p:cNvPr id="51" name="Text 48"/>
          <p:cNvSpPr/>
          <p:nvPr/>
        </p:nvSpPr>
        <p:spPr>
          <a:xfrm>
            <a:off x="6429375" y="4354785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8A2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84" dirty="0"/>
          </a:p>
        </p:txBody>
      </p:sp>
      <p:sp>
        <p:nvSpPr>
          <p:cNvPr id="52" name="Text 49"/>
          <p:cNvSpPr/>
          <p:nvPr/>
        </p:nvSpPr>
        <p:spPr>
          <a:xfrm>
            <a:off x="6600825" y="4354785"/>
            <a:ext cx="1943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AI: "Transferring to my manager" → Live Transfer → Take Over Call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428625"/>
            <a:ext cx="21717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285750" y="4194832"/>
            <a:ext cx="2171700" cy="891490"/>
          </a:xfrm>
          <a:prstGeom prst="rect">
            <a:avLst/>
          </a:prstGeom>
          <a:solidFill>
            <a:srgbClr val="FAFAF9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4194832"/>
            <a:ext cx="28575" cy="89149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7" name="Text 4"/>
          <p:cNvSpPr/>
          <p:nvPr/>
        </p:nvSpPr>
        <p:spPr>
          <a:xfrm>
            <a:off x="371475" y="4280557"/>
            <a:ext cx="200025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AFA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"AI handles the routine 80%, Ali focuses on the strategic 20%."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3171825" y="428625"/>
            <a:ext cx="554355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2925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Five Escalation Triggers Keep Ali in Control of Sensitive Situations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3171825" y="1165827"/>
            <a:ext cx="55435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uses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real-time interrupts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instead of a separate escalation queue. When the AI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a problem mid-call, Ali sees action buttons directly in the Vapi HUD — no tab-switching, no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delay. The customer stays on the line while Ali decides.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3171825" y="1857291"/>
            <a:ext cx="14020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716773" y="1857291"/>
            <a:ext cx="175259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METHOD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612238" y="1857291"/>
            <a:ext cx="210313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RESPONSE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3171825" y="2164473"/>
            <a:ext cx="140207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Sentiment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3171825" y="2344852"/>
            <a:ext cx="600075" cy="16252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15" name="Text 12"/>
          <p:cNvSpPr/>
          <p:nvPr/>
        </p:nvSpPr>
        <p:spPr>
          <a:xfrm>
            <a:off x="3171825" y="2344852"/>
            <a:ext cx="600075" cy="16252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4716773" y="2185904"/>
            <a:ext cx="175259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keyword analysis (angry, upset, cancel)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6612238" y="2185904"/>
            <a:ext cx="210313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AI: "Transferring to my manager" → Live Transfer → Take Over Call button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3171825" y="2693110"/>
            <a:ext cx="140207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Exceeded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3171825" y="2873490"/>
            <a:ext cx="673298" cy="162520"/>
          </a:xfrm>
          <a:prstGeom prst="roundRect">
            <a:avLst/>
          </a:prstGeom>
          <a:solidFill>
            <a:srgbClr val="FFEDD5"/>
          </a:solidFill>
          <a:ln/>
        </p:spPr>
      </p:sp>
      <p:sp>
        <p:nvSpPr>
          <p:cNvPr id="20" name="Text 17"/>
          <p:cNvSpPr/>
          <p:nvPr/>
        </p:nvSpPr>
        <p:spPr>
          <a:xfrm>
            <a:off x="3171825" y="2873490"/>
            <a:ext cx="673298" cy="16252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</a:t>
            </a:r>
            <a:endParaRPr lang="en-US" sz="584" dirty="0"/>
          </a:p>
        </p:txBody>
      </p:sp>
      <p:sp>
        <p:nvSpPr>
          <p:cNvPr id="21" name="Text 18"/>
          <p:cNvSpPr/>
          <p:nvPr/>
        </p:nvSpPr>
        <p:spPr>
          <a:xfrm>
            <a:off x="4716773" y="2789551"/>
            <a:ext cx="17525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outstanding + order &gt; limit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6612238" y="2714541"/>
            <a:ext cx="210313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Credit Blocked card → Override / Decline buttons</a:t>
            </a:r>
            <a:endParaRPr lang="en-US" sz="734" dirty="0"/>
          </a:p>
        </p:txBody>
      </p:sp>
      <p:sp>
        <p:nvSpPr>
          <p:cNvPr id="23" name="Text 20"/>
          <p:cNvSpPr/>
          <p:nvPr/>
        </p:nvSpPr>
        <p:spPr>
          <a:xfrm>
            <a:off x="3171825" y="3221748"/>
            <a:ext cx="140207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&gt; 500 lbs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3171825" y="3402127"/>
            <a:ext cx="691158" cy="16252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25" name="Text 22"/>
          <p:cNvSpPr/>
          <p:nvPr/>
        </p:nvSpPr>
        <p:spPr>
          <a:xfrm>
            <a:off x="3171825" y="3402127"/>
            <a:ext cx="691158" cy="16252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</a:t>
            </a:r>
            <a:endParaRPr lang="en-US" sz="584" dirty="0"/>
          </a:p>
        </p:txBody>
      </p:sp>
      <p:sp>
        <p:nvSpPr>
          <p:cNvPr id="26" name="Text 23"/>
          <p:cNvSpPr/>
          <p:nvPr/>
        </p:nvSpPr>
        <p:spPr>
          <a:xfrm>
            <a:off x="4716773" y="3318188"/>
            <a:ext cx="17525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Detected volume intent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6612238" y="3318188"/>
            <a:ext cx="21031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value alert to Ali</a:t>
            </a:r>
            <a:endParaRPr lang="en-US" sz="734" dirty="0"/>
          </a:p>
        </p:txBody>
      </p:sp>
      <p:sp>
        <p:nvSpPr>
          <p:cNvPr id="28" name="Text 25"/>
          <p:cNvSpPr/>
          <p:nvPr/>
        </p:nvSpPr>
        <p:spPr>
          <a:xfrm>
            <a:off x="3171825" y="3750385"/>
            <a:ext cx="140207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Client</a:t>
            </a:r>
            <a:endParaRPr lang="en-US" sz="784" dirty="0"/>
          </a:p>
        </p:txBody>
      </p:sp>
      <p:sp>
        <p:nvSpPr>
          <p:cNvPr id="29" name="Shape 26"/>
          <p:cNvSpPr/>
          <p:nvPr/>
        </p:nvSpPr>
        <p:spPr>
          <a:xfrm>
            <a:off x="3171825" y="3930765"/>
            <a:ext cx="691158" cy="162520"/>
          </a:xfrm>
          <a:prstGeom prst="roundRect">
            <a:avLst/>
          </a:prstGeom>
          <a:solidFill>
            <a:srgbClr val="F3E8FF"/>
          </a:solidFill>
          <a:ln/>
        </p:spPr>
      </p:sp>
      <p:sp>
        <p:nvSpPr>
          <p:cNvPr id="30" name="Text 27"/>
          <p:cNvSpPr/>
          <p:nvPr/>
        </p:nvSpPr>
        <p:spPr>
          <a:xfrm>
            <a:off x="3171825" y="3930765"/>
            <a:ext cx="691158" cy="16252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B21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4716773" y="3846826"/>
            <a:ext cx="17525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Multi-location flag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6612238" y="3846826"/>
            <a:ext cx="21031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for human review</a:t>
            </a:r>
            <a:endParaRPr lang="en-US" sz="734" dirty="0"/>
          </a:p>
        </p:txBody>
      </p:sp>
      <p:sp>
        <p:nvSpPr>
          <p:cNvPr id="33" name="Text 30"/>
          <p:cNvSpPr/>
          <p:nvPr/>
        </p:nvSpPr>
        <p:spPr>
          <a:xfrm>
            <a:off x="3171825" y="4279023"/>
            <a:ext cx="140207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Pricing</a:t>
            </a:r>
            <a:endParaRPr lang="en-US" sz="784" dirty="0"/>
          </a:p>
        </p:txBody>
      </p:sp>
      <p:sp>
        <p:nvSpPr>
          <p:cNvPr id="34" name="Shape 31"/>
          <p:cNvSpPr/>
          <p:nvPr/>
        </p:nvSpPr>
        <p:spPr>
          <a:xfrm>
            <a:off x="3171825" y="4459402"/>
            <a:ext cx="823317" cy="16252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35" name="Text 32"/>
          <p:cNvSpPr/>
          <p:nvPr/>
        </p:nvSpPr>
        <p:spPr>
          <a:xfrm>
            <a:off x="3171825" y="4459402"/>
            <a:ext cx="823317" cy="16252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4716773" y="4375463"/>
            <a:ext cx="17525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tier request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6612238" y="4375463"/>
            <a:ext cx="21031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to sales team</a:t>
            </a:r>
            <a:endParaRPr lang="en-US" sz="7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1"/>
          <p:cNvSpPr/>
          <p:nvPr/>
        </p:nvSpPr>
        <p:spPr>
          <a:xfrm>
            <a:off x="214313" y="428625"/>
            <a:ext cx="126801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FAFAF9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DEMO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3028950" y="428625"/>
            <a:ext cx="582930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2925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All Five Business Scenarios Work End-to-End in the Prototype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3028950" y="1108677"/>
            <a:ext cx="5829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working prototype demonstrates every scenario with a live interactive dashboard.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3028950" y="1365852"/>
            <a:ext cx="2857500" cy="798314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8" name="Shape 5"/>
          <p:cNvSpPr/>
          <p:nvPr/>
        </p:nvSpPr>
        <p:spPr>
          <a:xfrm>
            <a:off x="3257550" y="1365852"/>
            <a:ext cx="2628900" cy="798314"/>
          </a:xfrm>
          <a:prstGeom prst="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43275" y="1423002"/>
            <a:ext cx="760809" cy="176808"/>
          </a:xfrm>
          <a:prstGeom prst="round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43275" y="1423002"/>
            <a:ext cx="760809" cy="176808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A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4175522" y="1426573"/>
            <a:ext cx="9733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Interested Lead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3343275" y="1628384"/>
            <a:ext cx="24574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Sunrise Artisan Bakery → AI call → keyword highlight → credit verified → Accept Order → staged.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6000750" y="1365852"/>
            <a:ext cx="2857500" cy="769739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14" name="Shape 11"/>
          <p:cNvSpPr/>
          <p:nvPr/>
        </p:nvSpPr>
        <p:spPr>
          <a:xfrm>
            <a:off x="6229350" y="1365852"/>
            <a:ext cx="2628900" cy="648295"/>
          </a:xfrm>
          <a:prstGeom prst="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15075" y="1423002"/>
            <a:ext cx="753666" cy="176808"/>
          </a:xfrm>
          <a:prstGeom prst="round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15075" y="1423002"/>
            <a:ext cx="753666" cy="176808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B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7140178" y="1426573"/>
            <a:ext cx="9697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Drip Enrollment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6315075" y="1628384"/>
            <a:ext cx="24574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Old World Bakery → "not now" → auto 30-day drip → appears in Drip tab.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3028950" y="2221316"/>
            <a:ext cx="2857500" cy="798314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20" name="Shape 17"/>
          <p:cNvSpPr/>
          <p:nvPr/>
        </p:nvSpPr>
        <p:spPr>
          <a:xfrm>
            <a:off x="3257550" y="2221316"/>
            <a:ext cx="2628900" cy="798314"/>
          </a:xfrm>
          <a:prstGeom prst="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43275" y="2278466"/>
            <a:ext cx="760809" cy="176808"/>
          </a:xfrm>
          <a:prstGeom prst="round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43275" y="2278466"/>
            <a:ext cx="760809" cy="176808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C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4175522" y="2282037"/>
            <a:ext cx="10358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Angry Customer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3343275" y="2483848"/>
            <a:ext cx="24574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Rolling Pin → "angry" detected → AI: "transferring to my manager" → Live Transfer → Take Over Call.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6000750" y="2221316"/>
            <a:ext cx="2857500" cy="769739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26" name="Shape 23"/>
          <p:cNvSpPr/>
          <p:nvPr/>
        </p:nvSpPr>
        <p:spPr>
          <a:xfrm>
            <a:off x="6229350" y="2221316"/>
            <a:ext cx="2628900" cy="648295"/>
          </a:xfrm>
          <a:prstGeom prst="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15075" y="2278466"/>
            <a:ext cx="759023" cy="176808"/>
          </a:xfrm>
          <a:prstGeom prst="round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15075" y="2278466"/>
            <a:ext cx="759023" cy="176808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D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7145536" y="2282037"/>
            <a:ext cx="10304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Exceeded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6315075" y="2483848"/>
            <a:ext cx="24574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Bellmore Bread House → $375 over limit → inline Credit Blocked card → Override / Decline.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3028950" y="3076780"/>
            <a:ext cx="2857500" cy="648295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32" name="Shape 29"/>
          <p:cNvSpPr/>
          <p:nvPr/>
        </p:nvSpPr>
        <p:spPr>
          <a:xfrm>
            <a:off x="3257550" y="3076780"/>
            <a:ext cx="2628900" cy="648295"/>
          </a:xfrm>
          <a:prstGeom prst="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343275" y="3133930"/>
            <a:ext cx="748308" cy="176808"/>
          </a:xfrm>
          <a:prstGeom prst="roundRect">
            <a:avLst/>
          </a:prstGeom>
          <a:solidFill>
            <a:srgbClr val="F3F4F6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343275" y="3133930"/>
            <a:ext cx="748308" cy="176808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E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4163020" y="3137502"/>
            <a:ext cx="10394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Routing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3343275" y="3339312"/>
            <a:ext cx="24574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Staged orders → Generate Routes → territory grouping → nearest-neighbor stops → Refresh.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364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46291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&amp; ROUTING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428625" y="851892"/>
            <a:ext cx="462915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2925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Territory-Based Routing Optimizes Deliveries for Long Island Geography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674819"/>
            <a:ext cx="4629150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complex vehicle routing optimization, the system uses a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pragmatic territory-based approach that delivers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of the optimization benefit at 10% of the complexity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Orders are grouped by city into territory loops (e.g., Mineola Loop, Garden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Loop), checked against truck capacity (2,500 lbs), ordered by nearest-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neighbor within each loop, and then optimized via Google Maps API to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 Long Island Expressway (LIE) idle time.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428625" y="4355902"/>
            <a:ext cx="4629150" cy="10947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4355902"/>
            <a:ext cx="4629150" cy="7144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8" name="Shape 5"/>
          <p:cNvSpPr/>
          <p:nvPr/>
        </p:nvSpPr>
        <p:spPr>
          <a:xfrm>
            <a:off x="5050631" y="4355902"/>
            <a:ext cx="7144" cy="109478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5443538"/>
            <a:ext cx="4629150" cy="7144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4355902"/>
            <a:ext cx="28575" cy="10947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600075" y="4541639"/>
            <a:ext cx="42862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CONSIDERATIONS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600075" y="4764881"/>
            <a:ext cx="4286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approach scales to new cities by simply adding territory definitions. As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grows, PostGIS enables automatic spatial clustering via </a:t>
            </a:r>
            <a:pPr algn="l" indent="0" marL="0">
              <a:lnSpc>
                <a:spcPts val="1400"/>
              </a:lnSpc>
              <a:buNone/>
            </a:pPr>
            <a:r>
              <a:rPr lang="en-US" sz="683" b="1" dirty="0">
                <a:solidFill>
                  <a:srgbClr val="D9770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ST_ClusterKMeans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manual territory definition becomes impractical.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5486400" y="0"/>
            <a:ext cx="3657600" cy="5736431"/>
          </a:xfrm>
          <a:prstGeom prst="rect">
            <a:avLst/>
          </a:prstGeom>
          <a:solidFill>
            <a:srgbClr val="4D7C0F"/>
          </a:solidFill>
          <a:ln/>
        </p:spPr>
      </p:sp>
      <p:sp>
        <p:nvSpPr>
          <p:cNvPr id="14" name="Text 11"/>
          <p:cNvSpPr/>
          <p:nvPr/>
        </p:nvSpPr>
        <p:spPr>
          <a:xfrm>
            <a:off x="6599932" y="571500"/>
            <a:ext cx="14305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AFA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Routing Workflow</a:t>
            </a:r>
            <a:endParaRPr lang="en-US" sz="1193" dirty="0"/>
          </a:p>
        </p:txBody>
      </p:sp>
      <p:sp>
        <p:nvSpPr>
          <p:cNvPr id="15" name="Shape 12"/>
          <p:cNvSpPr/>
          <p:nvPr/>
        </p:nvSpPr>
        <p:spPr>
          <a:xfrm>
            <a:off x="6080754" y="1085850"/>
            <a:ext cx="2468863" cy="394692"/>
          </a:xfrm>
          <a:prstGeom prst="rect">
            <a:avLst/>
          </a:prstGeom>
          <a:solidFill>
            <a:srgbClr val="D97706"/>
          </a:solidFill>
          <a:ln w="18288">
            <a:solidFill>
              <a:srgbClr val="FAFAF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54" y="1085850"/>
            <a:ext cx="2468863" cy="394692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 Accept Order → Staged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6625828" y="1509117"/>
            <a:ext cx="137874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 staged in Fulfillment tab</a:t>
            </a:r>
            <a:endParaRPr lang="en-US" sz="674" dirty="0"/>
          </a:p>
        </p:txBody>
      </p:sp>
      <p:sp>
        <p:nvSpPr>
          <p:cNvPr id="18" name="Shape 15"/>
          <p:cNvSpPr/>
          <p:nvPr/>
        </p:nvSpPr>
        <p:spPr>
          <a:xfrm>
            <a:off x="6080754" y="1893094"/>
            <a:ext cx="2468863" cy="394692"/>
          </a:xfrm>
          <a:prstGeom prst="rect">
            <a:avLst/>
          </a:prstGeom>
          <a:solidFill>
            <a:srgbClr val="FAFAF9"/>
          </a:solidFill>
          <a:ln w="18288">
            <a:solidFill>
              <a:srgbClr val="2925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54" y="1893094"/>
            <a:ext cx="2468863" cy="394692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Generate Routes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6604397" y="2316361"/>
            <a:ext cx="142160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staged orders by territory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6080754" y="2700338"/>
            <a:ext cx="2468863" cy="394692"/>
          </a:xfrm>
          <a:prstGeom prst="rect">
            <a:avLst/>
          </a:prstGeom>
          <a:solidFill>
            <a:srgbClr val="FAFAF9"/>
          </a:solidFill>
          <a:ln w="18288">
            <a:solidFill>
              <a:srgbClr val="29252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54" y="2700338"/>
            <a:ext cx="2468863" cy="394692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Capacity Check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6654403" y="3123605"/>
            <a:ext cx="132159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total weight &lt; 2,500 lbs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6080754" y="3507581"/>
            <a:ext cx="2468863" cy="394692"/>
          </a:xfrm>
          <a:prstGeom prst="rect">
            <a:avLst/>
          </a:prstGeom>
          <a:solidFill>
            <a:srgbClr val="FAFAF9"/>
          </a:solidFill>
          <a:ln w="18288">
            <a:solidFill>
              <a:srgbClr val="29252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80754" y="3507581"/>
            <a:ext cx="2468863" cy="394692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Stop Ordering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6660654" y="3930848"/>
            <a:ext cx="130909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Nearest-neighbor assignment</a:t>
            </a:r>
            <a:endParaRPr lang="en-US" sz="674" dirty="0"/>
          </a:p>
        </p:txBody>
      </p:sp>
      <p:sp>
        <p:nvSpPr>
          <p:cNvPr id="27" name="Shape 24"/>
          <p:cNvSpPr/>
          <p:nvPr/>
        </p:nvSpPr>
        <p:spPr>
          <a:xfrm>
            <a:off x="6080754" y="4314825"/>
            <a:ext cx="2468863" cy="394692"/>
          </a:xfrm>
          <a:prstGeom prst="rect">
            <a:avLst/>
          </a:prstGeom>
          <a:solidFill>
            <a:srgbClr val="D97706"/>
          </a:solidFill>
          <a:ln w="18288">
            <a:solidFill>
              <a:srgbClr val="FAFAF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0754" y="4314825"/>
            <a:ext cx="2468863" cy="394692"/>
          </a:xfrm>
          <a:prstGeom prst="rect">
            <a:avLst/>
          </a:prstGeom>
          <a:noFill/>
          <a:ln/>
        </p:spPr>
        <p:txBody>
          <a:bodyPr wrap="square" lIns="204089" tIns="136017" rIns="204089" bIns="136017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Refresh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6515100" y="4738092"/>
            <a:ext cx="16002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Recalculate when new orders added</a:t>
            </a:r>
            <a:endParaRPr lang="en-US" sz="67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428625"/>
            <a:ext cx="164484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PLAN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285750" y="1472589"/>
            <a:ext cx="2628900" cy="1188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AFA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6-Month Roadmap Prioritizes Revenue-Generating Features First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285750" y="3639127"/>
            <a:ext cx="2628900" cy="1418648"/>
          </a:xfrm>
          <a:prstGeom prst="rect">
            <a:avLst/>
          </a:prstGeom>
          <a:solidFill>
            <a:srgbClr val="FAFAF9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3639127"/>
            <a:ext cx="28575" cy="1418648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8" name="Text 5"/>
          <p:cNvSpPr/>
          <p:nvPr/>
        </p:nvSpPr>
        <p:spPr>
          <a:xfrm>
            <a:off x="400050" y="3753427"/>
            <a:ext cx="24003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SCALING CONSIDERATIONS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00050" y="3960595"/>
            <a:ext cx="24003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&gt;100 calls/day: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Synchronous processing breaks.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Add BullMQ/Redis queue.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00050" y="4312034"/>
            <a:ext cx="24003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#2 Expansion: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Single-territory routing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breaks. Solution: Territory management module.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00050" y="4663473"/>
            <a:ext cx="24003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&gt;500 active campaigns: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Zapier breaks. Solution: 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email service.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3800475" y="428625"/>
            <a:ext cx="4914900" cy="755452"/>
          </a:xfrm>
          <a:prstGeom prst="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43350" y="514350"/>
            <a:ext cx="73044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D7C0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Months 1-2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4788098" y="532209"/>
            <a:ext cx="7072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3943350" y="762595"/>
            <a:ext cx="46291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Supabase with full schema. Build Google Maps scraper for lead sourcing. Configure PostGIS geofencing with 15-mile radius.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3800475" y="1312664"/>
            <a:ext cx="4914900" cy="755452"/>
          </a:xfrm>
          <a:prstGeom prst="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43350" y="1398389"/>
            <a:ext cx="53578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D7C0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Month 3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593431" y="1416248"/>
            <a:ext cx="9697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Sales Engine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3943350" y="1646634"/>
            <a:ext cx="46291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Vapi AI agent with dynamic tool-calling. Implement real-time transcript streaming, sentiment detection, and HITL triggers.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3800475" y="2196703"/>
            <a:ext cx="4914900" cy="755452"/>
          </a:xfrm>
          <a:prstGeom prst="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43350" y="2282428"/>
            <a:ext cx="53935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D7C0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Month 4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4597003" y="2300288"/>
            <a:ext cx="7340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3943350" y="2530673"/>
            <a:ext cx="46291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Zapier workflows for drip campaigns. Implement automated order processing from call confirmation to Supabase.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3800475" y="3080742"/>
            <a:ext cx="4914900" cy="755452"/>
          </a:xfrm>
          <a:prstGeom prst="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43350" y="3166467"/>
            <a:ext cx="53399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D7C0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Month 5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4591645" y="3184327"/>
            <a:ext cx="5697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3943350" y="3414713"/>
            <a:ext cx="46291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Google Maps Routing API for batch route optimization. Implement zip cluster grouping and driver manifest generation.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3800475" y="3964781"/>
            <a:ext cx="4914900" cy="755452"/>
          </a:xfrm>
          <a:prstGeom prst="rect">
            <a:avLst/>
          </a:prstGeom>
          <a:solidFill>
            <a:srgbClr val="FFFFFF"/>
          </a:solidFill>
          <a:ln w="9144">
            <a:solidFill>
              <a:srgbClr val="E7E5E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43350" y="4050506"/>
            <a:ext cx="54828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D7C0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Month 6</a:t>
            </a:r>
            <a:endParaRPr lang="en-US" sz="987" dirty="0"/>
          </a:p>
        </p:txBody>
      </p:sp>
      <p:sp>
        <p:nvSpPr>
          <p:cNvPr id="30" name="Text 27"/>
          <p:cNvSpPr/>
          <p:nvPr/>
        </p:nvSpPr>
        <p:spPr>
          <a:xfrm>
            <a:off x="4605933" y="4068366"/>
            <a:ext cx="6929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3943350" y="4298752"/>
            <a:ext cx="46291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Ali's Command Center dashboard with inline real-time interrupts, AI Sales Agent panel, and staged fulfillment workflow. End-to-end testing with Ali's team.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428625"/>
            <a:ext cx="21717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STRATEGY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285750" y="3471974"/>
            <a:ext cx="2171700" cy="1385776"/>
          </a:xfrm>
          <a:prstGeom prst="rect">
            <a:avLst/>
          </a:prstGeom>
          <a:solidFill>
            <a:srgbClr val="FAFAF9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3471974"/>
            <a:ext cx="28575" cy="1385776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3614849"/>
            <a:ext cx="1885950" cy="1100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AFA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"Build the simplest thing that works, but design the data model for the complex thing that comes later."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3171825" y="428625"/>
            <a:ext cx="554355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2925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Technical Tradeoffs Favor Speed-to-Value Over Perfection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3171825" y="1165827"/>
            <a:ext cx="55435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technical decision was made to maximize speed-to-value for Ali's business while keeping the architecture extensible.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3171825" y="1703003"/>
            <a:ext cx="105155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366254" y="1703003"/>
            <a:ext cx="157731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CHOICE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086447" y="1703003"/>
            <a:ext cx="26289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TRADEOFF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3171825" y="2038759"/>
            <a:ext cx="105155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366254" y="2038759"/>
            <a:ext cx="157731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(managed PostgreSQL)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6086447" y="2038759"/>
            <a:ext cx="262892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lock-in, but open-source base enables future migration.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3171825" y="2581684"/>
            <a:ext cx="105155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Voice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366254" y="2581684"/>
            <a:ext cx="157731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Vapi (managed agent)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6086447" y="2581684"/>
            <a:ext cx="262892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Per-minute cost, but saves 2-3 months vs custom Twilio build.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3171825" y="3124609"/>
            <a:ext cx="105155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366254" y="3124609"/>
            <a:ext cx="157731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Territory grouping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6086447" y="3124609"/>
            <a:ext cx="262892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mathematically optimal, but delivers 80% benefit at 10% complexity.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3171825" y="3667534"/>
            <a:ext cx="105155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366254" y="3667534"/>
            <a:ext cx="157731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dashboard</a:t>
            </a:r>
            <a:endParaRPr lang="en-US" sz="734" dirty="0"/>
          </a:p>
        </p:txBody>
      </p:sp>
      <p:sp>
        <p:nvSpPr>
          <p:cNvPr id="24" name="Text 21"/>
          <p:cNvSpPr/>
          <p:nvPr/>
        </p:nvSpPr>
        <p:spPr>
          <a:xfrm>
            <a:off x="6086447" y="3667534"/>
            <a:ext cx="262892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work than CLI, but Ali needs a visual operations tool.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3171825" y="4210459"/>
            <a:ext cx="105155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4366254" y="4210459"/>
            <a:ext cx="157731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Synchronous for MVP</a:t>
            </a:r>
            <a:endParaRPr lang="en-US" sz="734" dirty="0"/>
          </a:p>
        </p:txBody>
      </p:sp>
      <p:sp>
        <p:nvSpPr>
          <p:cNvPr id="27" name="Text 24"/>
          <p:cNvSpPr/>
          <p:nvPr/>
        </p:nvSpPr>
        <p:spPr>
          <a:xfrm>
            <a:off x="6086447" y="4210459"/>
            <a:ext cx="262892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Won't scale past 100 calls/day, but queue-ready schema makes upgrade easy.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840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508635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2925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Fastest ROI Comes from AI Outbound Calling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451577"/>
            <a:ext cx="50863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AI CALLING SCALE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428625" y="1735541"/>
            <a:ext cx="50488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 currently makes 10-15 manual calls per day. With Vapi, the system can make 50-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28625" y="1941258"/>
            <a:ext cx="30271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calls per day at roughly $0.10-0.15 per minute.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28625" y="2207698"/>
            <a:ext cx="5086350" cy="994377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2207698"/>
            <a:ext cx="28575" cy="994377"/>
          </a:xfrm>
          <a:prstGeom prst="rect">
            <a:avLst/>
          </a:prstGeom>
          <a:solidFill>
            <a:srgbClr val="4D7C0F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2207698"/>
            <a:ext cx="5086350" cy="99437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$1,000-$2,000/day new revenue</a:t>
            </a:r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292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2200"/>
              </a:lnSpc>
              <a:buNone/>
            </a:pPr>
            <a:pPr algn="l" indent="0" marL="0">
              <a:lnSpc>
                <a:spcPts val="22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system costing $50-$100/day to operate (assuming 10% conversion at $200 avg </a:t>
            </a:r>
            <a:pPr algn="l" indent="0" marL="0">
              <a:lnSpc>
                <a:spcPts val="2200"/>
              </a:lnSpc>
              <a:buNone/>
            </a:pPr>
            <a:r>
              <a:rPr lang="en-US" sz="834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order).</a:t>
            </a:r>
            <a:pPr algn="l" indent="0" marL="0">
              <a:lnSpc>
                <a:spcPts val="2200"/>
              </a:lnSpc>
              <a:buNone/>
            </a:pP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28625" y="3616412"/>
            <a:ext cx="50863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4D7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DRIP CAMPAIGN COMPOUNDING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28625" y="3875373"/>
            <a:ext cx="50863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753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second-highest ROI comes from drip campaigns. Every "not now" lead that would previously be forgotten is automatically re-engaged in 30 days. Over 6 months, this compounds into a significant pipeline of warm leads that cost nothing to re-contact.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5943600" y="0"/>
            <a:ext cx="3200400" cy="538404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6229350" y="571500"/>
            <a:ext cx="262890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AFA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Remains Human-Led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6229350" y="1066205"/>
            <a:ext cx="2628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Angry Customers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6229350" y="1250156"/>
            <a:ext cx="26289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human empathy and relationship preservation.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6229350" y="1693069"/>
            <a:ext cx="2628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Overrides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6229350" y="1877020"/>
            <a:ext cx="2628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risk requires business judgment.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6229350" y="2169914"/>
            <a:ext cx="2628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Deals (&gt;500 lbs)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6229350" y="2353866"/>
            <a:ext cx="2628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custom pricing negotiation.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6229350" y="2646759"/>
            <a:ext cx="2628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AFA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Multi-Location Chains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6229350" y="2830711"/>
            <a:ext cx="2628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FAFAF9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Complex, multi-stakeholder sales cycles.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6229350" y="4466797"/>
            <a:ext cx="2628900" cy="631496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AFA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"AI handles volume;</a:t>
            </a:r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AFA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AFAF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Ali handles value."</a:t>
            </a:r>
            <a:endParaRPr lang="en-US" sz="119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2026-03-23T02:13:33Z</dcterms:created>
  <dcterms:modified xsi:type="dcterms:W3CDTF">2026-03-23T02:13:33Z</dcterms:modified>
</cp:coreProperties>
</file>